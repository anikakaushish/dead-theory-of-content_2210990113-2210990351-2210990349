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79" r:id="rId7"/>
    <p:sldId id="270" r:id="rId8"/>
    <p:sldId id="269" r:id="rId9"/>
    <p:sldId id="268" r:id="rId10"/>
    <p:sldId id="277" r:id="rId11"/>
    <p:sldId id="271" r:id="rId12"/>
    <p:sldId id="273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18-May-26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18-May-26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/>
              </a:rPr>
              <a:pPr>
                <a:lnSpc>
                  <a:spcPct val="100000"/>
                </a:lnSpc>
              </a:pPr>
              <a:t>18-May-26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27864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</a:t>
            </a: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Industry</a:t>
            </a:r>
            <a:endParaRPr lang="en-IN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200" spc="-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200" spc="-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Dead Theory of Content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02006" y="2944671"/>
            <a:ext cx="41762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Anika Kaushish ( 2210990113)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Gursimran Singh (2210990351)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Gursahaj Singh (2210990349)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02080" y="5913120"/>
            <a:ext cx="6477000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200" spc="-1" dirty="0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200" spc="-1" dirty="0" err="1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</a:t>
            </a:r>
            <a:r>
              <a:rPr lang="en-US" sz="2200" spc="-1" dirty="0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University, Punjab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0210" y="4563716"/>
            <a:ext cx="52407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Supervised by:</a:t>
            </a:r>
          </a:p>
          <a:p>
            <a:pPr algn="ctr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Dr. Gurpreet Singh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808629"/>
            <a:ext cx="82296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F3460"/>
                </a:solidFill>
                <a:latin typeface="Calibri" pitchFamily="34" charset="0"/>
              </a:rPr>
              <a:t>Introduction</a:t>
            </a:r>
          </a:p>
        </p:txBody>
      </p:sp>
      <p:sp>
        <p:nvSpPr>
          <p:cNvPr id="3" name="LeftText"/>
          <p:cNvSpPr txBox="1"/>
          <p:nvPr/>
        </p:nvSpPr>
        <p:spPr>
          <a:xfrm>
            <a:off x="457200" y="1600200"/>
            <a:ext cx="4343400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1800" b="1" dirty="0">
                <a:solidFill>
                  <a:srgbClr val="DC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this research about?</a:t>
            </a:r>
          </a:p>
          <a:p>
            <a:endParaRPr lang="en-US" sz="1800" b="1" dirty="0">
              <a:solidFill>
                <a:srgbClr val="DC32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can now generate text, images, videos, and music at unprecedented scale. Today, a significant portion of online content — blogs, social media posts, news articles — is created by AI rather than humans.</a:t>
            </a:r>
          </a:p>
          <a:p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trend has given rise to the </a:t>
            </a:r>
            <a:r>
              <a:rPr lang="en-US" sz="1600" b="1" dirty="0">
                <a:solidFill>
                  <a:srgbClr val="0F34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 Theory of Content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the idea that human-created content is losing visibility and value in an AI-dominated digital landscape.</a:t>
            </a:r>
          </a:p>
          <a:p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explores the psychological, economic, and societal impacts of this shift, and proposes solutions to preserve authenticity online.</a:t>
            </a:r>
          </a:p>
        </p:txBody>
      </p:sp>
      <p:pic>
        <p:nvPicPr>
          <p:cNvPr id="4" name="IntroChart"/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4914600" y="1600200"/>
            <a:ext cx="3772800" cy="2514600"/>
          </a:xfrm>
          <a:prstGeom prst="roundRect">
            <a:avLst>
              <a:gd name="adj" fmla="val 16667"/>
            </a:avLst>
          </a:prstGeom>
        </p:spPr>
      </p:pic>
      <p:sp>
        <p:nvSpPr>
          <p:cNvPr id="5" name="StatBox"/>
          <p:cNvSpPr txBox="1"/>
          <p:nvPr/>
        </p:nvSpPr>
        <p:spPr>
          <a:xfrm>
            <a:off x="4914600" y="4343400"/>
            <a:ext cx="3772800" cy="1371600"/>
          </a:xfrm>
          <a:prstGeom prst="rect">
            <a:avLst/>
          </a:prstGeom>
          <a:solidFill>
            <a:srgbClr val="0F34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65%</a:t>
            </a:r>
          </a:p>
          <a:p>
            <a:pPr algn="ctr"/>
            <a:r>
              <a:rPr lang="en-US" sz="1400" dirty="0">
                <a:solidFill>
                  <a:srgbClr val="AACCFF"/>
                </a:solidFill>
                <a:latin typeface="Calibri" pitchFamily="34" charset="0"/>
              </a:rPr>
              <a:t>of internet traffic is estimated to be AI-generated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808629"/>
            <a:ext cx="82296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F3460"/>
                </a:solidFill>
                <a:latin typeface="Calibri" pitchFamily="34" charset="0"/>
              </a:rPr>
              <a:t>Objectives of the Study</a:t>
            </a:r>
          </a:p>
        </p:txBody>
      </p:sp>
      <p:sp>
        <p:nvSpPr>
          <p:cNvPr id="3" name="Obj1"/>
          <p:cNvSpPr txBox="1"/>
          <p:nvPr/>
        </p:nvSpPr>
        <p:spPr>
          <a:xfrm>
            <a:off x="457200" y="1494429"/>
            <a:ext cx="3886200" cy="1371600"/>
          </a:xfrm>
          <a:prstGeom prst="rect">
            <a:avLst/>
          </a:prstGeom>
          <a:solidFill>
            <a:srgbClr val="0F34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01. Understand Dead Theory</a:t>
            </a:r>
          </a:p>
          <a:p>
            <a:pPr algn="ctr"/>
            <a:r>
              <a:rPr lang="en-US" sz="1500" dirty="0">
                <a:solidFill>
                  <a:srgbClr val="AACCFF"/>
                </a:solidFill>
                <a:latin typeface="Calibri" pitchFamily="34" charset="0"/>
              </a:rPr>
              <a:t>Examine how AI-generated content growth is reshaping the digital landscape</a:t>
            </a:r>
          </a:p>
        </p:txBody>
      </p:sp>
      <p:sp>
        <p:nvSpPr>
          <p:cNvPr id="4" name="Obj2"/>
          <p:cNvSpPr txBox="1"/>
          <p:nvPr/>
        </p:nvSpPr>
        <p:spPr>
          <a:xfrm>
            <a:off x="4800600" y="1494429"/>
            <a:ext cx="3886200" cy="1371600"/>
          </a:xfrm>
          <a:prstGeom prst="rect">
            <a:avLst/>
          </a:prstGeom>
          <a:solidFill>
            <a:srgbClr val="DC323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02. Analyze Psychological Impact</a:t>
            </a:r>
          </a:p>
          <a:p>
            <a:pPr algn="ctr"/>
            <a:r>
              <a:rPr lang="en-US" sz="1500" dirty="0">
                <a:solidFill>
                  <a:srgbClr val="FFDDDD"/>
                </a:solidFill>
                <a:latin typeface="Calibri" pitchFamily="34" charset="0"/>
              </a:rPr>
              <a:t>Study reduced trust, digital fatigue, and information overload on users</a:t>
            </a:r>
          </a:p>
        </p:txBody>
      </p:sp>
      <p:sp>
        <p:nvSpPr>
          <p:cNvPr id="5" name="Obj3"/>
          <p:cNvSpPr txBox="1"/>
          <p:nvPr/>
        </p:nvSpPr>
        <p:spPr>
          <a:xfrm>
            <a:off x="457200" y="3033214"/>
            <a:ext cx="3886200" cy="1371600"/>
          </a:xfrm>
          <a:prstGeom prst="rect">
            <a:avLst/>
          </a:prstGeom>
          <a:solidFill>
            <a:srgbClr val="C882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03. Examine Economic Effects</a:t>
            </a:r>
          </a:p>
          <a:p>
            <a:pPr algn="ctr"/>
            <a:r>
              <a:rPr lang="en-US" sz="1500" dirty="0">
                <a:solidFill>
                  <a:srgbClr val="FFEECC"/>
                </a:solidFill>
                <a:latin typeface="Calibri" pitchFamily="34" charset="0"/>
              </a:rPr>
              <a:t>Assess automation's impact on media, marketing, and content industries</a:t>
            </a:r>
          </a:p>
        </p:txBody>
      </p:sp>
      <p:sp>
        <p:nvSpPr>
          <p:cNvPr id="6" name="Obj4"/>
          <p:cNvSpPr txBox="1"/>
          <p:nvPr/>
        </p:nvSpPr>
        <p:spPr>
          <a:xfrm>
            <a:off x="4800600" y="3033214"/>
            <a:ext cx="3886200" cy="1371600"/>
          </a:xfrm>
          <a:prstGeom prst="rect">
            <a:avLst/>
          </a:prstGeom>
          <a:solidFill>
            <a:srgbClr val="2E7D3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04. Preserve Human Creativity</a:t>
            </a:r>
          </a:p>
          <a:p>
            <a:pPr algn="ctr"/>
            <a:r>
              <a:rPr lang="en-US" sz="1500" dirty="0">
                <a:solidFill>
                  <a:srgbClr val="CCFFDD"/>
                </a:solidFill>
                <a:latin typeface="Calibri" pitchFamily="34" charset="0"/>
              </a:rPr>
              <a:t>Explore the future of authentic, original human expression online</a:t>
            </a:r>
          </a:p>
        </p:txBody>
      </p:sp>
      <p:pic>
        <p:nvPicPr>
          <p:cNvPr id="7" name="ObjImage"/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457200" y="4571999"/>
            <a:ext cx="8229600" cy="21290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800100"/>
            <a:ext cx="82296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F3460"/>
                </a:solidFill>
                <a:latin typeface="Calibri" pitchFamily="34" charset="0"/>
              </a:rPr>
              <a:t>Dead Theory of Content</a:t>
            </a:r>
          </a:p>
        </p:txBody>
      </p:sp>
      <p:pic>
        <p:nvPicPr>
          <p:cNvPr id="3" name="DeadTheoryChart"/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493728" y="1942398"/>
            <a:ext cx="4114800" cy="2228400"/>
          </a:xfrm>
          <a:prstGeom prst="roundRect">
            <a:avLst>
              <a:gd name="adj" fmla="val 10000"/>
            </a:avLst>
          </a:prstGeom>
        </p:spPr>
      </p:pic>
      <p:sp>
        <p:nvSpPr>
          <p:cNvPr id="4" name="RightText"/>
          <p:cNvSpPr txBox="1"/>
          <p:nvPr/>
        </p:nvSpPr>
        <p:spPr>
          <a:xfrm>
            <a:off x="4800600" y="1740089"/>
            <a:ext cx="3886200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DC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Core Concept</a:t>
            </a:r>
          </a:p>
          <a:p>
            <a:endParaRPr lang="en-US" sz="1600" b="1" dirty="0">
              <a:solidFill>
                <a:srgbClr val="DC32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5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500" b="1" dirty="0">
                <a:solidFill>
                  <a:srgbClr val="0F34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 Theory of Content</a:t>
            </a:r>
            <a:r>
              <a:rPr lang="en-US" sz="15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describes the gradual decline of human-generated content as AI floods digital platforms with automated material.</a:t>
            </a:r>
          </a:p>
          <a:p>
            <a:endParaRPr lang="en-US" sz="15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5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bots now generate articles, blogs, posts, images, and videos at a rate impossible for humans to match — reducing the visibility and perceived value of genuine human creativity.</a:t>
            </a:r>
          </a:p>
        </p:txBody>
      </p:sp>
      <p:sp>
        <p:nvSpPr>
          <p:cNvPr id="5" name="C1"/>
          <p:cNvSpPr txBox="1"/>
          <p:nvPr/>
        </p:nvSpPr>
        <p:spPr>
          <a:xfrm>
            <a:off x="457200" y="4767887"/>
            <a:ext cx="2629200" cy="1143000"/>
          </a:xfrm>
          <a:prstGeom prst="rect">
            <a:avLst/>
          </a:prstGeom>
          <a:solidFill>
            <a:srgbClr val="0F34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Authenticity</a:t>
            </a:r>
          </a:p>
          <a:p>
            <a:pPr algn="ctr"/>
            <a:r>
              <a:rPr lang="en-US" sz="1300" dirty="0">
                <a:solidFill>
                  <a:srgbClr val="AACCFF"/>
                </a:solidFill>
                <a:latin typeface="Calibri" pitchFamily="34" charset="0"/>
              </a:rPr>
              <a:t>Hard to verify real content</a:t>
            </a:r>
          </a:p>
        </p:txBody>
      </p:sp>
      <p:sp>
        <p:nvSpPr>
          <p:cNvPr id="6" name="C2"/>
          <p:cNvSpPr txBox="1"/>
          <p:nvPr/>
        </p:nvSpPr>
        <p:spPr>
          <a:xfrm>
            <a:off x="3257400" y="4767887"/>
            <a:ext cx="2629200" cy="1143000"/>
          </a:xfrm>
          <a:prstGeom prst="rect">
            <a:avLst/>
          </a:prstGeom>
          <a:solidFill>
            <a:srgbClr val="DC323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Originality</a:t>
            </a:r>
          </a:p>
          <a:p>
            <a:pPr algn="ctr"/>
            <a:r>
              <a:rPr lang="en-US" sz="1300" dirty="0">
                <a:solidFill>
                  <a:srgbClr val="FFDDDD"/>
                </a:solidFill>
                <a:latin typeface="Calibri" pitchFamily="34" charset="0"/>
              </a:rPr>
              <a:t>Human expression devalued</a:t>
            </a:r>
          </a:p>
        </p:txBody>
      </p:sp>
      <p:sp>
        <p:nvSpPr>
          <p:cNvPr id="7" name="C3"/>
          <p:cNvSpPr txBox="1"/>
          <p:nvPr/>
        </p:nvSpPr>
        <p:spPr>
          <a:xfrm>
            <a:off x="6018363" y="4767887"/>
            <a:ext cx="2743200" cy="1143000"/>
          </a:xfrm>
          <a:prstGeom prst="rect">
            <a:avLst/>
          </a:prstGeom>
          <a:solidFill>
            <a:srgbClr val="C882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Reliability</a:t>
            </a:r>
          </a:p>
          <a:p>
            <a:pPr algn="ctr"/>
            <a:r>
              <a:rPr lang="en-US" sz="1300" dirty="0">
                <a:solidFill>
                  <a:srgbClr val="FFEECC"/>
                </a:solidFill>
                <a:latin typeface="Calibri" pitchFamily="34" charset="0"/>
              </a:rPr>
              <a:t>Misinformation risk grows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785747"/>
            <a:ext cx="82296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F3460"/>
                </a:solidFill>
                <a:latin typeface="Calibri" pitchFamily="34" charset="0"/>
              </a:rPr>
              <a:t>Impact Analysis</a:t>
            </a:r>
          </a:p>
        </p:txBody>
      </p:sp>
      <p:sp>
        <p:nvSpPr>
          <p:cNvPr id="3" name="PsychHead"/>
          <p:cNvSpPr txBox="1"/>
          <p:nvPr/>
        </p:nvSpPr>
        <p:spPr>
          <a:xfrm>
            <a:off x="457200" y="1558853"/>
            <a:ext cx="3886200" cy="457200"/>
          </a:xfrm>
          <a:prstGeom prst="rect">
            <a:avLst/>
          </a:prstGeom>
          <a:solidFill>
            <a:srgbClr val="0F34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Psychological Impact</a:t>
            </a:r>
          </a:p>
        </p:txBody>
      </p:sp>
      <p:pic>
        <p:nvPicPr>
          <p:cNvPr id="4" name="PsychImg"/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457200" y="2239136"/>
            <a:ext cx="3886200" cy="16578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PsychText"/>
          <p:cNvSpPr txBox="1"/>
          <p:nvPr/>
        </p:nvSpPr>
        <p:spPr>
          <a:xfrm>
            <a:off x="457200" y="4120019"/>
            <a:ext cx="3886200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itchFamily="34" charset="0"/>
              <a:buChar char="●"/>
            </a:pPr>
            <a:r>
              <a:rPr lang="en-US" sz="1500" b="1" dirty="0">
                <a:solidFill>
                  <a:srgbClr val="DC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Trust</a:t>
            </a: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online information sources</a:t>
            </a:r>
          </a:p>
          <a:p>
            <a:pPr marL="342900" indent="-342900">
              <a:buFont typeface="Arial" pitchFamily="34" charset="0"/>
              <a:buChar char="●"/>
            </a:pPr>
            <a:r>
              <a:rPr lang="en-US" sz="1500" b="1" dirty="0">
                <a:solidFill>
                  <a:srgbClr val="DC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Overload</a:t>
            </a: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mass AI content</a:t>
            </a:r>
          </a:p>
          <a:p>
            <a:pPr marL="342900" indent="-342900">
              <a:buFont typeface="Arial" pitchFamily="34" charset="0"/>
              <a:buChar char="●"/>
            </a:pPr>
            <a:r>
              <a:rPr lang="en-US" sz="1500" b="1" dirty="0">
                <a:solidFill>
                  <a:srgbClr val="DC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Fatigue</a:t>
            </a: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confusion among users</a:t>
            </a:r>
          </a:p>
        </p:txBody>
      </p:sp>
      <p:sp>
        <p:nvSpPr>
          <p:cNvPr id="6" name="EconHead"/>
          <p:cNvSpPr txBox="1"/>
          <p:nvPr/>
        </p:nvSpPr>
        <p:spPr>
          <a:xfrm>
            <a:off x="4800600" y="1558853"/>
            <a:ext cx="3886200" cy="457200"/>
          </a:xfrm>
          <a:prstGeom prst="rect">
            <a:avLst/>
          </a:prstGeom>
          <a:solidFill>
            <a:srgbClr val="DC323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Economic Impact</a:t>
            </a:r>
          </a:p>
        </p:txBody>
      </p:sp>
      <p:pic>
        <p:nvPicPr>
          <p:cNvPr id="7" name="EconImg"/>
          <p:cNvPicPr>
            <a:picLocks noChangeAspect="1"/>
          </p:cNvPicPr>
          <p:nvPr/>
        </p:nvPicPr>
        <p:blipFill rotWithShape="1">
          <a:blip r:embed="rId3"/>
          <a:stretch/>
        </p:blipFill>
        <p:spPr>
          <a:xfrm>
            <a:off x="4800600" y="2239136"/>
            <a:ext cx="3886200" cy="1657800"/>
          </a:xfrm>
          <a:prstGeom prst="roundRect">
            <a:avLst>
              <a:gd name="adj" fmla="val 8000"/>
            </a:avLst>
          </a:prstGeom>
        </p:spPr>
      </p:pic>
      <p:sp>
        <p:nvSpPr>
          <p:cNvPr id="8" name="EconText"/>
          <p:cNvSpPr txBox="1"/>
          <p:nvPr/>
        </p:nvSpPr>
        <p:spPr>
          <a:xfrm>
            <a:off x="4800600" y="4391570"/>
            <a:ext cx="3886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●"/>
            </a:pPr>
            <a:r>
              <a:rPr lang="en-US" sz="1500" b="1" dirty="0">
                <a:solidFill>
                  <a:srgbClr val="0F34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transforming content industries</a:t>
            </a:r>
          </a:p>
          <a:p>
            <a:pPr marL="342900" indent="-342900">
              <a:buFont typeface="Arial" pitchFamily="34" charset="0"/>
              <a:buChar char="●"/>
            </a:pPr>
            <a:r>
              <a:rPr lang="en-US" sz="1500" b="1" dirty="0">
                <a:solidFill>
                  <a:srgbClr val="0F34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Displacement</a:t>
            </a: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writing, media, marketing</a:t>
            </a:r>
          </a:p>
          <a:p>
            <a:pPr marL="342900" indent="-342900">
              <a:buFont typeface="Arial" pitchFamily="34" charset="0"/>
              <a:buChar char="●"/>
            </a:pPr>
            <a:r>
              <a:rPr lang="en-US" sz="1500" b="1" dirty="0">
                <a:solidFill>
                  <a:srgbClr val="0F34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Costs</a:t>
            </a: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but fewer human creators</a:t>
            </a:r>
          </a:p>
          <a:p>
            <a:pPr marL="342900" indent="-342900">
              <a:buFont typeface="Arial" pitchFamily="34" charset="0"/>
              <a:buChar char="●"/>
            </a:pPr>
            <a:r>
              <a:rPr lang="en-US" sz="1500" b="1" dirty="0">
                <a:solidFill>
                  <a:srgbClr val="0F34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Tools Market</a:t>
            </a: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growing exponentially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856200"/>
            <a:ext cx="82296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F3460"/>
                </a:solidFill>
                <a:latin typeface="Calibri" pitchFamily="34" charset="0"/>
              </a:rPr>
              <a:t>Challenges, Ethics &amp; Future Outlook</a:t>
            </a:r>
          </a:p>
        </p:txBody>
      </p:sp>
      <p:sp>
        <p:nvSpPr>
          <p:cNvPr id="3" name="ChalHead"/>
          <p:cNvSpPr txBox="1"/>
          <p:nvPr/>
        </p:nvSpPr>
        <p:spPr>
          <a:xfrm>
            <a:off x="457200" y="2197071"/>
            <a:ext cx="3886200" cy="457200"/>
          </a:xfrm>
          <a:prstGeom prst="rect">
            <a:avLst/>
          </a:prstGeom>
          <a:solidFill>
            <a:srgbClr val="DC323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⚠ Challenges &amp; Ethical Issues</a:t>
            </a:r>
          </a:p>
        </p:txBody>
      </p:sp>
      <p:sp>
        <p:nvSpPr>
          <p:cNvPr id="4" name="Chal1"/>
          <p:cNvSpPr txBox="1"/>
          <p:nvPr/>
        </p:nvSpPr>
        <p:spPr>
          <a:xfrm>
            <a:off x="514200" y="2970600"/>
            <a:ext cx="1828800" cy="1028400"/>
          </a:xfrm>
          <a:prstGeom prst="rect">
            <a:avLst/>
          </a:prstGeom>
          <a:solidFill>
            <a:srgbClr val="FFF0F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DC3232"/>
                </a:solidFill>
                <a:latin typeface="Calibri" pitchFamily="34" charset="0"/>
              </a:rPr>
              <a:t>❌</a:t>
            </a:r>
          </a:p>
          <a:p>
            <a:pPr algn="ctr"/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Misinformation &amp; Fake Content</a:t>
            </a:r>
          </a:p>
        </p:txBody>
      </p:sp>
      <p:sp>
        <p:nvSpPr>
          <p:cNvPr id="5" name="Chal2"/>
          <p:cNvSpPr txBox="1"/>
          <p:nvPr/>
        </p:nvSpPr>
        <p:spPr>
          <a:xfrm>
            <a:off x="2400000" y="2945413"/>
            <a:ext cx="1828800" cy="1028400"/>
          </a:xfrm>
          <a:prstGeom prst="rect">
            <a:avLst/>
          </a:prstGeom>
          <a:solidFill>
            <a:srgbClr val="FFF0F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DC3232"/>
                </a:solidFill>
                <a:latin typeface="Calibri" pitchFamily="34" charset="0"/>
              </a:rPr>
              <a:t>©</a:t>
            </a:r>
          </a:p>
          <a:p>
            <a:pPr algn="ctr"/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Copyright &amp; Ownership Issues</a:t>
            </a:r>
          </a:p>
        </p:txBody>
      </p:sp>
      <p:sp>
        <p:nvSpPr>
          <p:cNvPr id="6" name="Chal3"/>
          <p:cNvSpPr txBox="1"/>
          <p:nvPr/>
        </p:nvSpPr>
        <p:spPr>
          <a:xfrm>
            <a:off x="457200" y="4113600"/>
            <a:ext cx="1828800" cy="1028400"/>
          </a:xfrm>
          <a:prstGeom prst="rect">
            <a:avLst/>
          </a:prstGeom>
          <a:solidFill>
            <a:srgbClr val="FFF0F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DC3232"/>
                </a:solidFill>
                <a:latin typeface="Calibri" pitchFamily="34" charset="0"/>
              </a:rPr>
              <a:t>📝</a:t>
            </a:r>
          </a:p>
          <a:p>
            <a:pPr algn="ctr"/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Loss of Human Originality</a:t>
            </a:r>
          </a:p>
        </p:txBody>
      </p:sp>
      <p:sp>
        <p:nvSpPr>
          <p:cNvPr id="7" name="Chal4"/>
          <p:cNvSpPr txBox="1"/>
          <p:nvPr/>
        </p:nvSpPr>
        <p:spPr>
          <a:xfrm>
            <a:off x="2400000" y="4113600"/>
            <a:ext cx="1828800" cy="1028400"/>
          </a:xfrm>
          <a:prstGeom prst="rect">
            <a:avLst/>
          </a:prstGeom>
          <a:solidFill>
            <a:srgbClr val="FFF0F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DC3232"/>
                </a:solidFill>
                <a:latin typeface="Calibri" pitchFamily="34" charset="0"/>
              </a:rPr>
              <a:t>📢</a:t>
            </a:r>
          </a:p>
          <a:p>
            <a:pPr algn="ctr"/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Manipulation of Public Opinion</a:t>
            </a:r>
          </a:p>
        </p:txBody>
      </p:sp>
      <p:sp>
        <p:nvSpPr>
          <p:cNvPr id="8" name="FutHead"/>
          <p:cNvSpPr txBox="1"/>
          <p:nvPr/>
        </p:nvSpPr>
        <p:spPr>
          <a:xfrm>
            <a:off x="4800600" y="2197071"/>
            <a:ext cx="3886200" cy="457200"/>
          </a:xfrm>
          <a:prstGeom prst="rect">
            <a:avLst/>
          </a:prstGeom>
          <a:solidFill>
            <a:srgbClr val="2E7D3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🔎 Future of Content Creation</a:t>
            </a:r>
          </a:p>
        </p:txBody>
      </p:sp>
      <p:sp>
        <p:nvSpPr>
          <p:cNvPr id="9" name="Fut1"/>
          <p:cNvSpPr txBox="1"/>
          <p:nvPr/>
        </p:nvSpPr>
        <p:spPr>
          <a:xfrm>
            <a:off x="4800600" y="2945413"/>
            <a:ext cx="1828800" cy="1028400"/>
          </a:xfrm>
          <a:prstGeom prst="rect">
            <a:avLst/>
          </a:prstGeom>
          <a:solidFill>
            <a:srgbClr val="F0FFF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2E7D32"/>
                </a:solidFill>
                <a:latin typeface="Calibri" pitchFamily="34" charset="0"/>
              </a:rPr>
              <a:t>🤝</a:t>
            </a:r>
          </a:p>
          <a:p>
            <a:pPr algn="ctr"/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Human-AI Collaboration</a:t>
            </a:r>
          </a:p>
        </p:txBody>
      </p:sp>
      <p:sp>
        <p:nvSpPr>
          <p:cNvPr id="10" name="Fut2"/>
          <p:cNvSpPr txBox="1"/>
          <p:nvPr/>
        </p:nvSpPr>
        <p:spPr>
          <a:xfrm>
            <a:off x="6743400" y="2932819"/>
            <a:ext cx="1943400" cy="1028400"/>
          </a:xfrm>
          <a:prstGeom prst="rect">
            <a:avLst/>
          </a:prstGeom>
          <a:solidFill>
            <a:srgbClr val="F0FFF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2E7D32"/>
                </a:solidFill>
                <a:latin typeface="Calibri" pitchFamily="34" charset="0"/>
              </a:rPr>
              <a:t>⚖</a:t>
            </a:r>
          </a:p>
          <a:p>
            <a:pPr algn="ctr"/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AI Content Regulation</a:t>
            </a:r>
          </a:p>
        </p:txBody>
      </p:sp>
      <p:sp>
        <p:nvSpPr>
          <p:cNvPr id="11" name="Fut3"/>
          <p:cNvSpPr txBox="1"/>
          <p:nvPr/>
        </p:nvSpPr>
        <p:spPr>
          <a:xfrm>
            <a:off x="4800600" y="4113600"/>
            <a:ext cx="1828800" cy="1028400"/>
          </a:xfrm>
          <a:prstGeom prst="rect">
            <a:avLst/>
          </a:prstGeom>
          <a:solidFill>
            <a:srgbClr val="F0FFF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2E7D32"/>
                </a:solidFill>
                <a:latin typeface="Calibri" pitchFamily="34" charset="0"/>
              </a:rPr>
              <a:t>✅</a:t>
            </a:r>
          </a:p>
          <a:p>
            <a:pPr algn="ctr"/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Content Authenticity Standards</a:t>
            </a:r>
          </a:p>
        </p:txBody>
      </p:sp>
      <p:sp>
        <p:nvSpPr>
          <p:cNvPr id="12" name="Fut4"/>
          <p:cNvSpPr txBox="1"/>
          <p:nvPr/>
        </p:nvSpPr>
        <p:spPr>
          <a:xfrm>
            <a:off x="6743400" y="4113600"/>
            <a:ext cx="1943400" cy="1028400"/>
          </a:xfrm>
          <a:prstGeom prst="rect">
            <a:avLst/>
          </a:prstGeom>
          <a:solidFill>
            <a:srgbClr val="F0FFF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2E7D32"/>
                </a:solidFill>
                <a:latin typeface="Calibri" pitchFamily="34" charset="0"/>
              </a:rPr>
              <a:t>🎨</a:t>
            </a:r>
          </a:p>
          <a:p>
            <a:pPr algn="ctr"/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Value Human Creativity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798394"/>
            <a:ext cx="82296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F3460"/>
                </a:solidFill>
                <a:latin typeface="Calibri" pitchFamily="34" charset="0"/>
              </a:rPr>
              <a:t>Proposed Solution</a:t>
            </a:r>
          </a:p>
        </p:txBody>
      </p:sp>
      <p:pic>
        <p:nvPicPr>
          <p:cNvPr id="3" name="SolImg"/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457200" y="1740990"/>
            <a:ext cx="8229600" cy="1714800"/>
          </a:xfrm>
          <a:prstGeom prst="roundRect">
            <a:avLst>
              <a:gd name="adj" fmla="val 8000"/>
            </a:avLst>
          </a:prstGeom>
        </p:spPr>
      </p:pic>
      <p:sp>
        <p:nvSpPr>
          <p:cNvPr id="4" name="SysLabel"/>
          <p:cNvSpPr txBox="1"/>
          <p:nvPr/>
        </p:nvSpPr>
        <p:spPr>
          <a:xfrm>
            <a:off x="457200" y="3659606"/>
            <a:ext cx="8229600" cy="457200"/>
          </a:xfrm>
          <a:prstGeom prst="rect">
            <a:avLst/>
          </a:prstGeom>
          <a:solidFill>
            <a:srgbClr val="0F34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AI-Based Content Detection System: Hybrid Deep Learning + Statistical Approach</a:t>
            </a:r>
          </a:p>
        </p:txBody>
      </p:sp>
      <p:sp>
        <p:nvSpPr>
          <p:cNvPr id="5" name="K1"/>
          <p:cNvSpPr txBox="1"/>
          <p:nvPr/>
        </p:nvSpPr>
        <p:spPr>
          <a:xfrm>
            <a:off x="457200" y="4320622"/>
            <a:ext cx="2629200" cy="1143000"/>
          </a:xfrm>
          <a:prstGeom prst="rect">
            <a:avLst/>
          </a:prstGeom>
          <a:solidFill>
            <a:srgbClr val="F0F4F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0F3460"/>
                </a:solidFill>
                <a:latin typeface="Calibri" pitchFamily="34" charset="0"/>
              </a:rPr>
              <a:t>DistilGPT2 Model</a:t>
            </a:r>
          </a:p>
          <a:p>
            <a:pPr algn="ctr"/>
            <a:r>
              <a:rPr lang="en-US" sz="1400" dirty="0">
                <a:solidFill>
                  <a:srgbClr val="444444"/>
                </a:solidFill>
                <a:latin typeface="Calibri" pitchFamily="34" charset="0"/>
              </a:rPr>
              <a:t>Classifies text with probability scores</a:t>
            </a:r>
          </a:p>
        </p:txBody>
      </p:sp>
      <p:sp>
        <p:nvSpPr>
          <p:cNvPr id="6" name="K2"/>
          <p:cNvSpPr txBox="1"/>
          <p:nvPr/>
        </p:nvSpPr>
        <p:spPr>
          <a:xfrm>
            <a:off x="3200400" y="4343100"/>
            <a:ext cx="2629200" cy="1143000"/>
          </a:xfrm>
          <a:prstGeom prst="rect">
            <a:avLst/>
          </a:prstGeom>
          <a:solidFill>
            <a:srgbClr val="FFF5F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DC3232"/>
                </a:solidFill>
                <a:latin typeface="Calibri" pitchFamily="34" charset="0"/>
              </a:rPr>
              <a:t>Perplexity Scoring</a:t>
            </a:r>
          </a:p>
          <a:p>
            <a:pPr algn="ctr"/>
            <a:r>
              <a:rPr lang="en-US" sz="1400" dirty="0">
                <a:solidFill>
                  <a:srgbClr val="444444"/>
                </a:solidFill>
                <a:latin typeface="Calibri" pitchFamily="34" charset="0"/>
              </a:rPr>
              <a:t>Statistical method for detection accuracy</a:t>
            </a:r>
          </a:p>
        </p:txBody>
      </p:sp>
      <p:sp>
        <p:nvSpPr>
          <p:cNvPr id="7" name="K3"/>
          <p:cNvSpPr txBox="1"/>
          <p:nvPr/>
        </p:nvSpPr>
        <p:spPr>
          <a:xfrm>
            <a:off x="5943600" y="4343100"/>
            <a:ext cx="2743200" cy="1143000"/>
          </a:xfrm>
          <a:prstGeom prst="rect">
            <a:avLst/>
          </a:prstGeom>
          <a:solidFill>
            <a:srgbClr val="F0FFF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2E7D32"/>
                </a:solidFill>
                <a:latin typeface="Calibri" pitchFamily="34" charset="0"/>
              </a:rPr>
              <a:t>Future: Multi-Class</a:t>
            </a:r>
          </a:p>
          <a:p>
            <a:pPr algn="ctr"/>
            <a:r>
              <a:rPr lang="en-US" sz="1400" dirty="0">
                <a:solidFill>
                  <a:srgbClr val="444444"/>
                </a:solidFill>
                <a:latin typeface="Calibri" pitchFamily="34" charset="0"/>
              </a:rPr>
              <a:t>Advanced ML with real-world datasets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812042"/>
            <a:ext cx="82296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F3460"/>
                </a:solidFill>
                <a:latin typeface="Calibri" pitchFamily="34" charset="0"/>
              </a:rPr>
              <a:t>Conclusion</a:t>
            </a:r>
          </a:p>
        </p:txBody>
      </p:sp>
      <p:pic>
        <p:nvPicPr>
          <p:cNvPr id="3" name="ConcImg"/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457200" y="1497842"/>
            <a:ext cx="8229600" cy="2842146"/>
          </a:xfrm>
          <a:prstGeom prst="roundRect">
            <a:avLst>
              <a:gd name="adj" fmla="val 8000"/>
            </a:avLst>
          </a:prstGeom>
        </p:spPr>
      </p:pic>
      <p:sp>
        <p:nvSpPr>
          <p:cNvPr id="4" name="ConcText"/>
          <p:cNvSpPr txBox="1"/>
          <p:nvPr/>
        </p:nvSpPr>
        <p:spPr>
          <a:xfrm>
            <a:off x="457200" y="4478875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content is rapidly transforming the digital world, bringing both </a:t>
            </a:r>
            <a:r>
              <a:rPr lang="en-US" sz="16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 advantages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(speed, cost reduction, accessibility) and serious </a:t>
            </a:r>
            <a:r>
              <a:rPr lang="en-US" sz="1600" b="1" dirty="0">
                <a:solidFill>
                  <a:srgbClr val="DC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(authenticity, misinformation, employment disruption).</a:t>
            </a:r>
          </a:p>
          <a:p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preserve a healthy digital ecosystem, we must promote </a:t>
            </a:r>
            <a:r>
              <a:rPr lang="en-US" sz="1600" b="1" dirty="0">
                <a:solidFill>
                  <a:srgbClr val="0F34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ethical AI practices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ensure </a:t>
            </a:r>
            <a:r>
              <a:rPr lang="en-US" sz="1600" b="1" dirty="0">
                <a:solidFill>
                  <a:srgbClr val="0F34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transparency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safeguard genuine human creativity in the age of AI</a:t>
            </a:r>
            <a:r>
              <a:rPr lang="en-US" sz="1600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7957" y="2210971"/>
            <a:ext cx="67524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Algerian" pitchFamily="82" charset="0"/>
              </a:rPr>
              <a:t>THANK YOU</a:t>
            </a:r>
            <a:endParaRPr lang="en-US" sz="9600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37164</TotalTime>
  <Words>516</Words>
  <Application>Microsoft Office PowerPoint</Application>
  <PresentationFormat>On-screen Show (4:3)</PresentationFormat>
  <Paragraphs>90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MS PGothic</vt:lpstr>
      <vt:lpstr>Algerian</vt:lpstr>
      <vt:lpstr>Arial</vt:lpstr>
      <vt:lpstr>Calibri</vt:lpstr>
      <vt:lpstr>DejaVu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Microsoft account</cp:lastModifiedBy>
  <cp:revision>2356</cp:revision>
  <dcterms:created xsi:type="dcterms:W3CDTF">2010-04-09T07:36:15Z</dcterms:created>
  <dcterms:modified xsi:type="dcterms:W3CDTF">2026-05-18T12:00:25Z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