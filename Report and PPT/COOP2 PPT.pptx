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76" r:id="rId7"/>
    <p:sldId id="270" r:id="rId8"/>
    <p:sldId id="269" r:id="rId9"/>
    <p:sldId id="268" r:id="rId10"/>
    <p:sldId id="279" r:id="rId11"/>
    <p:sldId id="277" r:id="rId12"/>
    <p:sldId id="272" r:id="rId13"/>
    <p:sldId id="273" r:id="rId14"/>
    <p:sldId id="278" r:id="rId15"/>
    <p:sldId id="280"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21-Mar-26</a:t>
            </a:fld>
            <a:endParaRPr lang="en-US"/>
          </a:p>
        </p:txBody>
      </p:sp>
      <p:sp>
        <p:nvSpPr>
          <p:cNvPr id="4" name="Footer Placeholder 3">
            <a:extLst>
              <a:ext uri="{FF2B5EF4-FFF2-40B4-BE49-F238E27FC236}">
                <a16:creationId xmlns=""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21-Mar-26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pPr>
                <a:lnSpc>
                  <a:spcPct val="100000"/>
                </a:lnSpc>
              </a:pPr>
              <a:t>21-Mar-26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2786489"/>
          </a:xfrm>
          <a:prstGeom prst="rect">
            <a:avLst/>
          </a:prstGeom>
          <a:noFill/>
          <a:ln w="9360">
            <a:noFill/>
          </a:ln>
        </p:spPr>
        <p:txBody>
          <a:bodyPr>
            <a:noAutofit/>
          </a:bodyPr>
          <a:lstStyle/>
          <a:p>
            <a:pPr algn="ctr">
              <a:lnSpc>
                <a:spcPct val="100000"/>
              </a:lnSpc>
              <a:spcBef>
                <a:spcPts val="400"/>
              </a:spcBef>
            </a:pPr>
            <a:r>
              <a:rPr lang="en-IN" sz="22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2200" dirty="0" smtClean="0">
                <a:latin typeface="Times New Roman" panose="02020603050405020304" pitchFamily="18" charset="0"/>
                <a:ea typeface="Calibri" panose="020F0502020204030204" pitchFamily="34" charset="0"/>
                <a:cs typeface="Times New Roman" panose="02020603050405020304" pitchFamily="18" charset="0"/>
              </a:rPr>
              <a:t>Co-Op2 </a:t>
            </a:r>
            <a:r>
              <a:rPr lang="en-US" sz="2200" dirty="0">
                <a:latin typeface="Times New Roman" panose="02020603050405020304" pitchFamily="18" charset="0"/>
                <a:ea typeface="Calibri" panose="020F0502020204030204" pitchFamily="34" charset="0"/>
                <a:cs typeface="Times New Roman" panose="02020603050405020304" pitchFamily="18" charset="0"/>
              </a:rPr>
              <a:t>Project at </a:t>
            </a:r>
            <a:r>
              <a:rPr lang="en-US" sz="2200" dirty="0" smtClean="0">
                <a:latin typeface="Times New Roman" panose="02020603050405020304" pitchFamily="18" charset="0"/>
                <a:ea typeface="Calibri" panose="020F0502020204030204" pitchFamily="34" charset="0"/>
                <a:cs typeface="Times New Roman" panose="02020603050405020304" pitchFamily="18" charset="0"/>
              </a:rPr>
              <a:t>Industry</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200" spc="-1" dirty="0" smtClean="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200" spc="-1" dirty="0" smtClean="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4800" dirty="0" smtClean="0">
                <a:latin typeface="Times New Roman" panose="02020603050405020304" pitchFamily="18" charset="0"/>
                <a:ea typeface="Calibri" panose="020F0502020204030204" pitchFamily="34" charset="0"/>
                <a:cs typeface="Times New Roman" panose="02020603050405020304" pitchFamily="18" charset="0"/>
              </a:rPr>
              <a:t>Adidas Sales Analysis</a:t>
            </a:r>
            <a:endParaRPr lang="en-US" sz="2000" i="1" spc="-1" dirty="0" smtClean="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3" name="TextBox 2"/>
          <p:cNvSpPr txBox="1"/>
          <p:nvPr/>
        </p:nvSpPr>
        <p:spPr>
          <a:xfrm>
            <a:off x="243839" y="4038600"/>
            <a:ext cx="3751385" cy="1107996"/>
          </a:xfrm>
          <a:prstGeom prst="rect">
            <a:avLst/>
          </a:prstGeom>
          <a:noFill/>
        </p:spPr>
        <p:txBody>
          <a:bodyPr wrap="square" rtlCol="0">
            <a:spAutoFit/>
          </a:bodyPr>
          <a:lstStyle/>
          <a:p>
            <a:r>
              <a:rPr lang="en-US" sz="2200" dirty="0" smtClean="0">
                <a:latin typeface="Times New Roman" pitchFamily="18" charset="0"/>
                <a:cs typeface="Times New Roman" pitchFamily="18" charset="0"/>
              </a:rPr>
              <a:t>Submitted By:</a:t>
            </a:r>
          </a:p>
          <a:p>
            <a:r>
              <a:rPr lang="en-US" sz="2200" dirty="0" smtClean="0">
                <a:latin typeface="Times New Roman" pitchFamily="18" charset="0"/>
                <a:cs typeface="Times New Roman" pitchFamily="18" charset="0"/>
              </a:rPr>
              <a:t>     Name: Anika Kaushish</a:t>
            </a:r>
          </a:p>
          <a:p>
            <a:r>
              <a:rPr lang="en-US" sz="2200" dirty="0" smtClean="0">
                <a:latin typeface="Times New Roman" pitchFamily="18" charset="0"/>
                <a:cs typeface="Times New Roman" pitchFamily="18" charset="0"/>
              </a:rPr>
              <a:t>     Roll No.: 2210990113</a:t>
            </a:r>
            <a:endParaRPr lang="en-US" sz="2200" dirty="0">
              <a:latin typeface="Times New Roman" pitchFamily="18" charset="0"/>
              <a:cs typeface="Times New Roman" pitchFamily="18" charset="0"/>
            </a:endParaRPr>
          </a:p>
        </p:txBody>
      </p:sp>
      <p:sp>
        <p:nvSpPr>
          <p:cNvPr id="5" name="TextBox 4"/>
          <p:cNvSpPr txBox="1"/>
          <p:nvPr/>
        </p:nvSpPr>
        <p:spPr>
          <a:xfrm>
            <a:off x="3995224" y="4038600"/>
            <a:ext cx="4944061" cy="1446550"/>
          </a:xfrm>
          <a:prstGeom prst="rect">
            <a:avLst/>
          </a:prstGeom>
          <a:noFill/>
        </p:spPr>
        <p:txBody>
          <a:bodyPr wrap="square" rtlCol="0">
            <a:spAutoFit/>
          </a:bodyPr>
          <a:lstStyle/>
          <a:p>
            <a:r>
              <a:rPr lang="en-US" sz="2200" dirty="0" smtClean="0">
                <a:latin typeface="Times New Roman" pitchFamily="18" charset="0"/>
                <a:cs typeface="Times New Roman" pitchFamily="18" charset="0"/>
              </a:rPr>
              <a:t>Supervised By:</a:t>
            </a:r>
          </a:p>
          <a:p>
            <a:r>
              <a:rPr lang="en-US" sz="2200" dirty="0" smtClean="0">
                <a:latin typeface="Times New Roman" pitchFamily="18" charset="0"/>
                <a:cs typeface="Times New Roman" pitchFamily="18" charset="0"/>
              </a:rPr>
              <a:t>      Name: </a:t>
            </a:r>
            <a:r>
              <a:rPr lang="en-US" sz="2200" dirty="0" err="1" smtClean="0">
                <a:latin typeface="Times New Roman" pitchFamily="18" charset="0"/>
                <a:cs typeface="Times New Roman" pitchFamily="18" charset="0"/>
              </a:rPr>
              <a:t>Jatin</a:t>
            </a:r>
            <a:r>
              <a:rPr lang="en-US" sz="2200" dirty="0" smtClean="0">
                <a:latin typeface="Times New Roman" pitchFamily="18" charset="0"/>
                <a:cs typeface="Times New Roman" pitchFamily="18" charset="0"/>
              </a:rPr>
              <a:t> Mehta </a:t>
            </a:r>
          </a:p>
          <a:p>
            <a:r>
              <a:rPr lang="en-US" sz="2200" dirty="0" smtClean="0">
                <a:latin typeface="Times New Roman" pitchFamily="18" charset="0"/>
                <a:cs typeface="Times New Roman" pitchFamily="18" charset="0"/>
              </a:rPr>
              <a:t>      Designation: Director</a:t>
            </a:r>
          </a:p>
          <a:p>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Organization: Logic Zephyr Pvt. </a:t>
            </a:r>
            <a:r>
              <a:rPr lang="en-US" sz="2200" dirty="0" smtClean="0">
                <a:latin typeface="Times New Roman" pitchFamily="18" charset="0"/>
                <a:cs typeface="Times New Roman" pitchFamily="18" charset="0"/>
              </a:rPr>
              <a:t>Ltd.</a:t>
            </a:r>
            <a:endParaRPr lang="en-US" sz="2200" dirty="0">
              <a:latin typeface="Times New Roman" pitchFamily="18" charset="0"/>
              <a:cs typeface="Times New Roman" pitchFamily="18" charset="0"/>
            </a:endParaRPr>
          </a:p>
        </p:txBody>
      </p:sp>
      <p:sp>
        <p:nvSpPr>
          <p:cNvPr id="6" name="TextBox 5"/>
          <p:cNvSpPr txBox="1"/>
          <p:nvPr/>
        </p:nvSpPr>
        <p:spPr>
          <a:xfrm>
            <a:off x="1402080" y="5913120"/>
            <a:ext cx="6477000" cy="820738"/>
          </a:xfrm>
          <a:prstGeom prst="rect">
            <a:avLst/>
          </a:prstGeom>
          <a:noFill/>
        </p:spPr>
        <p:txBody>
          <a:bodyPr wrap="square" rtlCol="0">
            <a:spAutoFit/>
          </a:bodyPr>
          <a:lstStyle/>
          <a:p>
            <a:pPr algn="ctr">
              <a:lnSpc>
                <a:spcPct val="100000"/>
              </a:lnSpc>
              <a:spcBef>
                <a:spcPts val="400"/>
              </a:spcBef>
            </a:pPr>
            <a:r>
              <a:rPr lang="en-US" sz="2200" spc="-1" dirty="0" smtClean="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200" spc="-1" dirty="0" err="1" smtClean="0">
                <a:latin typeface="Times New Roman" panose="02020603050405020304" pitchFamily="18" charset="0"/>
                <a:ea typeface="MS PGothic"/>
                <a:cs typeface="Times New Roman" panose="02020603050405020304" pitchFamily="18" charset="0"/>
              </a:rPr>
              <a:t>Chitkara</a:t>
            </a:r>
            <a:r>
              <a:rPr lang="en-US" sz="2200" spc="-1" dirty="0" smtClean="0">
                <a:latin typeface="Times New Roman" panose="02020603050405020304" pitchFamily="18" charset="0"/>
                <a:ea typeface="MS PGothic"/>
                <a:cs typeface="Times New Roman" panose="02020603050405020304" pitchFamily="18" charset="0"/>
              </a:rPr>
              <a:t> University, Punjab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3305553" y="951125"/>
            <a:ext cx="2555630" cy="595968"/>
          </a:xfrm>
          <a:prstGeom prst="rect">
            <a:avLst/>
          </a:prstGeom>
          <a:noFill/>
          <a:ln w="9360">
            <a:noFill/>
          </a:ln>
        </p:spPr>
        <p:txBody>
          <a:bodyPr anchor="ctr">
            <a:noAutofit/>
          </a:bodyPr>
          <a:lstStyle/>
          <a:p>
            <a:pPr>
              <a:lnSpc>
                <a:spcPct val="100000"/>
              </a:lnSpc>
            </a:pPr>
            <a:r>
              <a:rPr lang="en" sz="30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47588" y="1690465"/>
            <a:ext cx="8671560" cy="3046988"/>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today’s data-driven world, organizations generate large amounts of sales data, but raw data alone is not useful for decision-making. Data analysis and visualization tools such as Power BI help transform raw data into meaningful insights through dashboards and reports. This project focuses on analyzing Adidas sales data to understand sales trends, regional performance, product performance, and retailer contributions. The dashboard provides a visual representation of key business metrics which helps management make strategic decisions.</a:t>
            </a:r>
            <a:endParaRPr lang="en-US"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93274" y="975471"/>
            <a:ext cx="3514971"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32030" y="1772609"/>
            <a:ext cx="8241631" cy="3046988"/>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Companies like Adidas generate huge volumes of sales data across different regions, products, and retailers. However, analyzing this data manually is difficult and time-consuming. Without proper visualization, it is challenging to identify sales trends, top-performing products, profitable regions, and retailer performance. Therefore, there is a need to develop an interactive dashboard that can analyze sales data efficiently and provide insights for better business decision-making.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344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60568" y="895922"/>
            <a:ext cx="4788131"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Objectives of the Project</a:t>
            </a:r>
            <a:endParaRPr lang="en-US" sz="3000" dirty="0">
              <a:latin typeface="Times New Roman" pitchFamily="18" charset="0"/>
              <a:cs typeface="Times New Roman" pitchFamily="18" charset="0"/>
            </a:endParaRPr>
          </a:p>
        </p:txBody>
      </p:sp>
      <p:sp>
        <p:nvSpPr>
          <p:cNvPr id="5" name="TextBox 4"/>
          <p:cNvSpPr txBox="1"/>
          <p:nvPr/>
        </p:nvSpPr>
        <p:spPr>
          <a:xfrm>
            <a:off x="307074" y="1912260"/>
            <a:ext cx="7376616"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analyze Adidas sales data</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create an interactive Power BI dashboard</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analyze monthly sales trends</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identify top-performing regions and products</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analyze retailer performance</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 visualize key performance indicators</a:t>
            </a: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09696" y="882720"/>
            <a:ext cx="488788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Key Features of Dashboard</a:t>
            </a:r>
            <a:endParaRPr lang="en-US" sz="3000" dirty="0">
              <a:latin typeface="Times New Roman" pitchFamily="18" charset="0"/>
              <a:cs typeface="Times New Roman" pitchFamily="18" charset="0"/>
            </a:endParaRPr>
          </a:p>
        </p:txBody>
      </p:sp>
      <p:sp>
        <p:nvSpPr>
          <p:cNvPr id="6" name="TextBox 5"/>
          <p:cNvSpPr txBox="1"/>
          <p:nvPr/>
        </p:nvSpPr>
        <p:spPr>
          <a:xfrm>
            <a:off x="249169" y="1789729"/>
            <a:ext cx="8686800" cy="3416320"/>
          </a:xfrm>
          <a:prstGeom prst="rect">
            <a:avLst/>
          </a:prstGeom>
          <a:noFill/>
        </p:spPr>
        <p:txBody>
          <a:bodyPr wrap="square" rtlCol="0">
            <a:spAutoFit/>
          </a:bodyPr>
          <a:lstStyle/>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Adidas Sales Dashboard includes several important </a:t>
            </a:r>
            <a:r>
              <a:rPr lang="en-US" sz="2400" dirty="0" smtClean="0">
                <a:latin typeface="Times New Roman" panose="02020603050405020304" pitchFamily="18" charset="0"/>
                <a:cs typeface="Times New Roman" panose="02020603050405020304" pitchFamily="18" charset="0"/>
              </a:rPr>
              <a:t>      features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KPI Cards showing Total Sales, Units Sold, Profit, and Price per Unit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Monthly Sales Trend Line Chart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Sales by State Map Visualization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Sales by Region Pie Chart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Sales by Product Bar Chart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Sales by Retailer Bar Chart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Filters for Region and </a:t>
            </a:r>
            <a:r>
              <a:rPr lang="en-US" sz="2400" dirty="0" smtClean="0">
                <a:latin typeface="Times New Roman" panose="02020603050405020304" pitchFamily="18" charset="0"/>
                <a:cs typeface="Times New Roman" panose="02020603050405020304" pitchFamily="18" charset="0"/>
              </a:rPr>
              <a:t>Date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83978" y="878012"/>
            <a:ext cx="5735782"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Key Performance Indicators (KPIs)</a:t>
            </a:r>
            <a:endParaRPr lang="en-US" sz="3000" dirty="0">
              <a:latin typeface="Times New Roman" pitchFamily="18" charset="0"/>
              <a:cs typeface="Times New Roman" pitchFamily="18" charset="0"/>
            </a:endParaRPr>
          </a:p>
        </p:txBody>
      </p:sp>
      <p:sp>
        <p:nvSpPr>
          <p:cNvPr id="5" name="TextBox 4"/>
          <p:cNvSpPr txBox="1"/>
          <p:nvPr/>
        </p:nvSpPr>
        <p:spPr>
          <a:xfrm>
            <a:off x="444145" y="1432010"/>
            <a:ext cx="6136817"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Total Sales : $900M</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Units Sold : 2M</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Operating Margin : 42%</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Price per Unit : $45</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Operating Profit : $332M</a:t>
            </a:r>
            <a:endParaRPr lang="en-US" sz="2400" dirty="0" smtClean="0">
              <a:latin typeface="Times New Roman" pitchFamily="18" charset="0"/>
              <a:cs typeface="Times New Roman" pitchFamily="18" charset="0"/>
            </a:endParaRPr>
          </a:p>
        </p:txBody>
      </p:sp>
      <p:sp>
        <p:nvSpPr>
          <p:cNvPr id="7" name="TextBox 6"/>
          <p:cNvSpPr txBox="1"/>
          <p:nvPr/>
        </p:nvSpPr>
        <p:spPr>
          <a:xfrm>
            <a:off x="3285028" y="3493832"/>
            <a:ext cx="2933682"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Methodology</a:t>
            </a:r>
            <a:endParaRPr lang="en-US" sz="3000" dirty="0">
              <a:latin typeface="Times New Roman" pitchFamily="18" charset="0"/>
              <a:cs typeface="Times New Roman" pitchFamily="18" charset="0"/>
            </a:endParaRPr>
          </a:p>
        </p:txBody>
      </p:sp>
      <p:sp>
        <p:nvSpPr>
          <p:cNvPr id="8" name="TextBox 7"/>
          <p:cNvSpPr txBox="1"/>
          <p:nvPr/>
        </p:nvSpPr>
        <p:spPr>
          <a:xfrm>
            <a:off x="648861" y="3925000"/>
            <a:ext cx="6744073" cy="2677656"/>
          </a:xfrm>
          <a:prstGeom prst="rect">
            <a:avLst/>
          </a:prstGeom>
          <a:noFill/>
        </p:spPr>
        <p:txBody>
          <a:bodyPr wrap="square" rtlCol="0">
            <a:spAutoFit/>
          </a:bodyPr>
          <a:lstStyle/>
          <a:p>
            <a:pPr algn="just"/>
            <a:r>
              <a:rPr lang="en-US" sz="2400" dirty="0" smtClean="0">
                <a:latin typeface="Times New Roman" pitchFamily="18" charset="0"/>
                <a:cs typeface="Times New Roman" pitchFamily="18" charset="0"/>
              </a:rPr>
              <a:t>Step 1: Data Collection</a:t>
            </a:r>
          </a:p>
          <a:p>
            <a:pPr algn="just"/>
            <a:r>
              <a:rPr lang="en-US" sz="2400" dirty="0" smtClean="0">
                <a:latin typeface="Times New Roman" pitchFamily="18" charset="0"/>
                <a:cs typeface="Times New Roman" pitchFamily="18" charset="0"/>
              </a:rPr>
              <a:t>Step 2 : Data Cleaning</a:t>
            </a:r>
          </a:p>
          <a:p>
            <a:pPr algn="just"/>
            <a:r>
              <a:rPr lang="en-US" sz="2400" dirty="0" smtClean="0">
                <a:latin typeface="Times New Roman" pitchFamily="18" charset="0"/>
                <a:cs typeface="Times New Roman" pitchFamily="18" charset="0"/>
              </a:rPr>
              <a:t>Step 3 : Data Loading in Power BI</a:t>
            </a:r>
          </a:p>
          <a:p>
            <a:pPr algn="just"/>
            <a:r>
              <a:rPr lang="en-US" sz="2400" dirty="0" smtClean="0">
                <a:latin typeface="Times New Roman" pitchFamily="18" charset="0"/>
                <a:cs typeface="Times New Roman" pitchFamily="18" charset="0"/>
              </a:rPr>
              <a:t>Step 4 : Data Modelling</a:t>
            </a:r>
          </a:p>
          <a:p>
            <a:pPr algn="just"/>
            <a:r>
              <a:rPr lang="en-US" sz="2400" dirty="0" smtClean="0">
                <a:latin typeface="Times New Roman" pitchFamily="18" charset="0"/>
                <a:cs typeface="Times New Roman" pitchFamily="18" charset="0"/>
              </a:rPr>
              <a:t>Step 5 : Creating Visualizations</a:t>
            </a:r>
          </a:p>
          <a:p>
            <a:pPr algn="just"/>
            <a:r>
              <a:rPr lang="en-US" sz="2400" dirty="0" smtClean="0">
                <a:latin typeface="Times New Roman" pitchFamily="18" charset="0"/>
                <a:cs typeface="Times New Roman" pitchFamily="18" charset="0"/>
              </a:rPr>
              <a:t>Step 6 : Dashboard Creation</a:t>
            </a:r>
          </a:p>
          <a:p>
            <a:pPr algn="just"/>
            <a:r>
              <a:rPr lang="en-US" sz="2400" dirty="0" smtClean="0">
                <a:latin typeface="Times New Roman" pitchFamily="18" charset="0"/>
                <a:cs typeface="Times New Roman" pitchFamily="18" charset="0"/>
              </a:rPr>
              <a:t>Step 7 : Insight Generation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83447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3732" t="19936" r="29552" b="58826"/>
          <a:stretch/>
        </p:blipFill>
        <p:spPr>
          <a:xfrm>
            <a:off x="218364" y="818865"/>
            <a:ext cx="8793850" cy="1685315"/>
          </a:xfrm>
          <a:prstGeom prst="rect">
            <a:avLst/>
          </a:prstGeom>
        </p:spPr>
      </p:pic>
      <p:pic>
        <p:nvPicPr>
          <p:cNvPr id="3" name="Picture 2"/>
          <p:cNvPicPr>
            <a:picLocks noChangeAspect="1"/>
          </p:cNvPicPr>
          <p:nvPr/>
        </p:nvPicPr>
        <p:blipFill rotWithShape="1">
          <a:blip r:embed="rId2"/>
          <a:srcRect l="4178" t="40907" r="30299" b="33608"/>
          <a:stretch/>
        </p:blipFill>
        <p:spPr>
          <a:xfrm>
            <a:off x="218364" y="2674961"/>
            <a:ext cx="8793850" cy="1883391"/>
          </a:xfrm>
          <a:prstGeom prst="rect">
            <a:avLst/>
          </a:prstGeom>
        </p:spPr>
      </p:pic>
      <p:pic>
        <p:nvPicPr>
          <p:cNvPr id="4" name="Picture 3"/>
          <p:cNvPicPr>
            <a:picLocks noChangeAspect="1"/>
          </p:cNvPicPr>
          <p:nvPr/>
        </p:nvPicPr>
        <p:blipFill rotWithShape="1">
          <a:blip r:embed="rId2"/>
          <a:srcRect l="4627" t="66127" r="29851" b="12901"/>
          <a:stretch/>
        </p:blipFill>
        <p:spPr>
          <a:xfrm>
            <a:off x="218364" y="4729133"/>
            <a:ext cx="8793850" cy="1912608"/>
          </a:xfrm>
          <a:prstGeom prst="rect">
            <a:avLst/>
          </a:prstGeom>
        </p:spPr>
      </p:pic>
    </p:spTree>
    <p:extLst>
      <p:ext uri="{BB962C8B-B14F-4D97-AF65-F5344CB8AC3E}">
        <p14:creationId xmlns:p14="http://schemas.microsoft.com/office/powerpoint/2010/main" val="3786948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6692" y="775490"/>
            <a:ext cx="4682253"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Monthly Sales Analysis</a:t>
            </a:r>
            <a:endParaRPr lang="en-US" sz="3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88758" y="1329488"/>
            <a:ext cx="8566484"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monthly sales line chart shows the trend of sales throughout the year. From the dashboard, it can be observed that sales are higher in mid-year months such as July and August, while sales are lower at the beginning of the year. This indicates seasonal demand patterns which can help the company in inventory planning and marketing strategies.</a:t>
            </a:r>
            <a:endParaRPr lang="en-US"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612245" y="3643173"/>
            <a:ext cx="439114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Sales by Region Analysis</a:t>
            </a:r>
            <a:endParaRPr lang="en-US" sz="3000" dirty="0">
              <a:latin typeface="Times New Roman" pitchFamily="18" charset="0"/>
              <a:cs typeface="Times New Roman" pitchFamily="18" charset="0"/>
            </a:endParaRPr>
          </a:p>
        </p:txBody>
      </p:sp>
      <p:sp>
        <p:nvSpPr>
          <p:cNvPr id="5" name="TextBox 4"/>
          <p:cNvSpPr txBox="1"/>
          <p:nvPr/>
        </p:nvSpPr>
        <p:spPr>
          <a:xfrm>
            <a:off x="320842" y="4202532"/>
            <a:ext cx="8534400"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sales by region chart shows that the West region contributes the highest sales compared to other regions such as Northeast, Southeast, South, and Midwest. This helps the company understand which regions are performing well and where improvement is required.</a:t>
            </a:r>
            <a:endParaRPr lang="en-US" sz="2200" i="1" dirty="0">
              <a:latin typeface="Times New Roman" pitchFamily="18" charset="0"/>
              <a:cs typeface="Times New Roman" pitchFamily="18" charset="0"/>
            </a:endParaRPr>
          </a:p>
        </p:txBody>
      </p:sp>
    </p:spTree>
    <p:extLst>
      <p:ext uri="{BB962C8B-B14F-4D97-AF65-F5344CB8AC3E}">
        <p14:creationId xmlns:p14="http://schemas.microsoft.com/office/powerpoint/2010/main" val="912408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66692" y="775490"/>
            <a:ext cx="4682253"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Sales by Product Analysis</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88758" y="1329488"/>
            <a:ext cx="8566484"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product sales chart shows that Men’s Street Footwear generates the highest sales among all products, followed by Women’s Apparel and Men’s Athletic Footwear. This helps the company focus more on high-performing products and improve low-performing products.</a:t>
            </a:r>
            <a:endParaRPr lang="en-US"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612245" y="3176147"/>
            <a:ext cx="439114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Sales by Region Analysis</a:t>
            </a:r>
            <a:endParaRPr lang="en-US" sz="3000" dirty="0">
              <a:latin typeface="Times New Roman" pitchFamily="18" charset="0"/>
              <a:cs typeface="Times New Roman" pitchFamily="18" charset="0"/>
            </a:endParaRPr>
          </a:p>
        </p:txBody>
      </p:sp>
      <p:sp>
        <p:nvSpPr>
          <p:cNvPr id="7" name="TextBox 6"/>
          <p:cNvSpPr txBox="1"/>
          <p:nvPr/>
        </p:nvSpPr>
        <p:spPr>
          <a:xfrm>
            <a:off x="320842" y="3886648"/>
            <a:ext cx="8534400"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retailer sales chart shows that West Gear and Foot Locker are the top retailers contributing the highest sales. Retailer analysis helps the company maintain strong relationships with high-performing retailers and improve performance with low-performing retailers.</a:t>
            </a:r>
            <a:endParaRPr lang="en-US" sz="2200" i="1"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67676" y="886112"/>
            <a:ext cx="4256116"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Insights from Dashboard</a:t>
            </a:r>
            <a:endParaRPr lang="en-US" sz="3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28534" y="1638987"/>
            <a:ext cx="8534400"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West region has highest sales</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Men’s Street Footwear is top product</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West Gear is top retailer</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July &amp; August are highest sales months</a:t>
            </a: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Overall profit is high</a:t>
            </a: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24349" y="847899"/>
            <a:ext cx="2360815"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Conclusion</a:t>
            </a:r>
            <a:endParaRPr lang="en-US" sz="3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332509" y="1596044"/>
            <a:ext cx="8528858"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This project demonstrates how Power BI can be used to analyze sales data and create interactive dashboards. The Adidas Sales Dashboard helps in understanding sales trends, regional performance, product performance, and retailer performance. The dashboard provides useful insights that can help management in strategic decision-making and business growth.</a:t>
            </a:r>
          </a:p>
        </p:txBody>
      </p:sp>
      <p:sp>
        <p:nvSpPr>
          <p:cNvPr id="4" name="TextBox 3"/>
          <p:cNvSpPr txBox="1"/>
          <p:nvPr/>
        </p:nvSpPr>
        <p:spPr>
          <a:xfrm>
            <a:off x="3416530" y="4098515"/>
            <a:ext cx="2360815"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Future Scope</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2508" y="4765522"/>
            <a:ext cx="6683434" cy="156966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Add customer segmentation</a:t>
            </a:r>
          </a:p>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Add profit forecasting</a:t>
            </a:r>
          </a:p>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Add yearly growth analysis</a:t>
            </a:r>
          </a:p>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Add inventory analysis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736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55844" y="2142698"/>
            <a:ext cx="6100550" cy="1569660"/>
          </a:xfrm>
          <a:prstGeom prst="rect">
            <a:avLst/>
          </a:prstGeom>
          <a:noFill/>
        </p:spPr>
        <p:txBody>
          <a:bodyPr wrap="square" rtlCol="0">
            <a:spAutoFit/>
          </a:bodyPr>
          <a:lstStyle/>
          <a:p>
            <a:pPr algn="ctr"/>
            <a:r>
              <a:rPr lang="en-US" sz="9600" dirty="0" smtClean="0"/>
              <a:t>Thank You</a:t>
            </a:r>
            <a:endParaRPr lang="en-US" sz="9600" dirty="0"/>
          </a:p>
        </p:txBody>
      </p:sp>
    </p:spTree>
    <p:extLst>
      <p:ext uri="{BB962C8B-B14F-4D97-AF65-F5344CB8AC3E}">
        <p14:creationId xmlns:p14="http://schemas.microsoft.com/office/powerpoint/2010/main" val="30350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36025</TotalTime>
  <Words>699</Words>
  <Application>Microsoft Office PowerPoint</Application>
  <PresentationFormat>On-screen Show (4:3)</PresentationFormat>
  <Paragraphs>75</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MS PGothic</vt:lpstr>
      <vt:lpstr>Arial</vt:lpstr>
      <vt:lpstr>Calibri</vt:lpstr>
      <vt:lpstr>DejaVu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Microsoft account</cp:lastModifiedBy>
  <cp:revision>2342</cp:revision>
  <dcterms:created xsi:type="dcterms:W3CDTF">2010-04-09T07:36:15Z</dcterms:created>
  <dcterms:modified xsi:type="dcterms:W3CDTF">2026-03-21T17:53:28Z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