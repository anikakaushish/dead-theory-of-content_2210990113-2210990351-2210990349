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3"/>
  </p:notesMasterIdLst>
  <p:handoutMasterIdLst>
    <p:handoutMasterId r:id="rId14"/>
  </p:handoutMasterIdLst>
  <p:sldIdLst>
    <p:sldId id="256" r:id="rId5"/>
    <p:sldId id="257" r:id="rId6"/>
    <p:sldId id="270" r:id="rId7"/>
    <p:sldId id="269" r:id="rId8"/>
    <p:sldId id="268" r:id="rId9"/>
    <p:sldId id="277" r:id="rId10"/>
    <p:sldId id="271" r:id="rId11"/>
    <p:sldId id="273" r:id="rId12"/>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18-May-26</a:t>
            </a:fld>
            <a:endParaRPr lang="en-US"/>
          </a:p>
        </p:txBody>
      </p:sp>
      <p:sp>
        <p:nvSpPr>
          <p:cNvPr id="4" name="Footer Placeholder 3">
            <a:extLst>
              <a:ext uri="{FF2B5EF4-FFF2-40B4-BE49-F238E27FC236}">
                <a16:creationId xmlns:a16="http://schemas.microsoft.com/office/drawing/2014/main" xmlns=""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xmlns=""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18-May-26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xmlns=""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pPr>
                <a:lnSpc>
                  <a:spcPct val="100000"/>
                </a:lnSpc>
              </a:pPr>
              <a:t>18-May-26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2786489"/>
          </a:xfrm>
          <a:prstGeom prst="rect">
            <a:avLst/>
          </a:prstGeom>
          <a:noFill/>
          <a:ln w="9360">
            <a:noFill/>
          </a:ln>
        </p:spPr>
        <p:txBody>
          <a:bodyPr>
            <a:noAutofit/>
          </a:bodyPr>
          <a:lstStyle/>
          <a:p>
            <a:pPr algn="ctr">
              <a:lnSpc>
                <a:spcPct val="100000"/>
              </a:lnSpc>
              <a:spcBef>
                <a:spcPts val="400"/>
              </a:spcBef>
            </a:pPr>
            <a:r>
              <a:rPr lang="en-IN" sz="2200"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sz="2200" dirty="0">
                <a:latin typeface="Times New Roman" panose="02020603050405020304" pitchFamily="18" charset="0"/>
                <a:ea typeface="Calibri" panose="020F0502020204030204" pitchFamily="34" charset="0"/>
                <a:cs typeface="Times New Roman" panose="02020603050405020304" pitchFamily="18" charset="0"/>
              </a:rPr>
              <a:t>Co-Op Project at </a:t>
            </a:r>
            <a:r>
              <a:rPr lang="en-US" sz="2200" dirty="0" smtClean="0">
                <a:latin typeface="Times New Roman" panose="02020603050405020304" pitchFamily="18" charset="0"/>
                <a:ea typeface="Calibri" panose="020F0502020204030204" pitchFamily="34" charset="0"/>
                <a:cs typeface="Times New Roman" panose="02020603050405020304" pitchFamily="18" charset="0"/>
              </a:rPr>
              <a:t>Industry</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200" spc="-1" dirty="0" smtClean="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endParaRPr lang="en-US" sz="2200" spc="-1" dirty="0" smtClean="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4800" dirty="0" smtClean="0">
                <a:latin typeface="Times New Roman" panose="02020603050405020304" pitchFamily="18" charset="0"/>
                <a:ea typeface="Calibri" panose="020F0502020204030204" pitchFamily="34" charset="0"/>
                <a:cs typeface="Times New Roman" panose="02020603050405020304" pitchFamily="18" charset="0"/>
              </a:rPr>
              <a:t>The Dead Theory of Content</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
        <p:nvSpPr>
          <p:cNvPr id="3" name="TextBox 2"/>
          <p:cNvSpPr txBox="1"/>
          <p:nvPr/>
        </p:nvSpPr>
        <p:spPr>
          <a:xfrm>
            <a:off x="191069" y="3723879"/>
            <a:ext cx="4176215" cy="1446550"/>
          </a:xfrm>
          <a:prstGeom prst="rect">
            <a:avLst/>
          </a:prstGeom>
          <a:noFill/>
        </p:spPr>
        <p:txBody>
          <a:bodyPr wrap="square" rtlCol="0">
            <a:spAutoFit/>
          </a:bodyPr>
          <a:lstStyle/>
          <a:p>
            <a:r>
              <a:rPr lang="en-US" sz="2200" dirty="0" smtClean="0">
                <a:latin typeface="Times New Roman" pitchFamily="18" charset="0"/>
                <a:cs typeface="Times New Roman" pitchFamily="18" charset="0"/>
              </a:rPr>
              <a:t>Submitted By:</a:t>
            </a:r>
          </a:p>
          <a:p>
            <a:r>
              <a:rPr lang="en-US" sz="22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 Anika </a:t>
            </a:r>
            <a:r>
              <a:rPr lang="en-US" sz="2200" dirty="0" smtClean="0">
                <a:latin typeface="Times New Roman" pitchFamily="18" charset="0"/>
                <a:cs typeface="Times New Roman" pitchFamily="18" charset="0"/>
              </a:rPr>
              <a:t>Kaushish ( 2210990113)</a:t>
            </a:r>
          </a:p>
          <a:p>
            <a:r>
              <a:rPr lang="en-US" sz="2200" dirty="0" smtClean="0">
                <a:latin typeface="Times New Roman" pitchFamily="18" charset="0"/>
                <a:cs typeface="Times New Roman" pitchFamily="18" charset="0"/>
              </a:rPr>
              <a:t>     Gursimran Singh (2210990351)</a:t>
            </a:r>
          </a:p>
          <a:p>
            <a:r>
              <a:rPr lang="en-US" sz="2200" dirty="0" smtClean="0">
                <a:latin typeface="Times New Roman" pitchFamily="18" charset="0"/>
                <a:cs typeface="Times New Roman" pitchFamily="18" charset="0"/>
              </a:rPr>
              <a:t>     Gursahaj Singh (2210990349)</a:t>
            </a:r>
            <a:endParaRPr lang="en-US" sz="2200" dirty="0">
              <a:latin typeface="Times New Roman" pitchFamily="18" charset="0"/>
              <a:cs typeface="Times New Roman" pitchFamily="18" charset="0"/>
            </a:endParaRPr>
          </a:p>
        </p:txBody>
      </p:sp>
      <p:sp>
        <p:nvSpPr>
          <p:cNvPr id="6" name="TextBox 5"/>
          <p:cNvSpPr txBox="1"/>
          <p:nvPr/>
        </p:nvSpPr>
        <p:spPr>
          <a:xfrm>
            <a:off x="1402080" y="5913120"/>
            <a:ext cx="6477000" cy="820738"/>
          </a:xfrm>
          <a:prstGeom prst="rect">
            <a:avLst/>
          </a:prstGeom>
          <a:noFill/>
        </p:spPr>
        <p:txBody>
          <a:bodyPr wrap="square" rtlCol="0">
            <a:spAutoFit/>
          </a:bodyPr>
          <a:lstStyle/>
          <a:p>
            <a:pPr algn="ctr">
              <a:lnSpc>
                <a:spcPct val="100000"/>
              </a:lnSpc>
              <a:spcBef>
                <a:spcPts val="400"/>
              </a:spcBef>
            </a:pPr>
            <a:r>
              <a:rPr lang="en-US" sz="2200" spc="-1" dirty="0" smtClean="0">
                <a:latin typeface="Times New Roman" panose="02020603050405020304" pitchFamily="18" charset="0"/>
                <a:ea typeface="MS PGothic"/>
                <a:cs typeface="Times New Roman" panose="02020603050405020304" pitchFamily="18" charset="0"/>
              </a:rPr>
              <a:t>Department of Computer Science and Engineering, </a:t>
            </a:r>
          </a:p>
          <a:p>
            <a:pPr algn="ctr">
              <a:lnSpc>
                <a:spcPct val="100000"/>
              </a:lnSpc>
              <a:spcBef>
                <a:spcPts val="400"/>
              </a:spcBef>
            </a:pPr>
            <a:r>
              <a:rPr lang="en-US" sz="2200" spc="-1" dirty="0" err="1" smtClean="0">
                <a:latin typeface="Times New Roman" panose="02020603050405020304" pitchFamily="18" charset="0"/>
                <a:ea typeface="MS PGothic"/>
                <a:cs typeface="Times New Roman" panose="02020603050405020304" pitchFamily="18" charset="0"/>
              </a:rPr>
              <a:t>Chitkara</a:t>
            </a:r>
            <a:r>
              <a:rPr lang="en-US" sz="2200" spc="-1" dirty="0" smtClean="0">
                <a:latin typeface="Times New Roman" panose="02020603050405020304" pitchFamily="18" charset="0"/>
                <a:ea typeface="MS PGothic"/>
                <a:cs typeface="Times New Roman" panose="02020603050405020304" pitchFamily="18" charset="0"/>
              </a:rPr>
              <a:t> University, Punjab</a:t>
            </a:r>
          </a:p>
        </p:txBody>
      </p:sp>
      <p:sp>
        <p:nvSpPr>
          <p:cNvPr id="5" name="TextBox 4"/>
          <p:cNvSpPr txBox="1"/>
          <p:nvPr/>
        </p:nvSpPr>
        <p:spPr>
          <a:xfrm>
            <a:off x="4640580" y="3723879"/>
            <a:ext cx="4339988" cy="1107996"/>
          </a:xfrm>
          <a:prstGeom prst="rect">
            <a:avLst/>
          </a:prstGeom>
          <a:noFill/>
        </p:spPr>
        <p:txBody>
          <a:bodyPr wrap="square" rtlCol="0">
            <a:spAutoFit/>
          </a:bodyPr>
          <a:lstStyle/>
          <a:p>
            <a:r>
              <a:rPr lang="en-US" sz="2200" dirty="0" smtClean="0">
                <a:latin typeface="Times New Roman" pitchFamily="18" charset="0"/>
                <a:cs typeface="Times New Roman" pitchFamily="18" charset="0"/>
              </a:rPr>
              <a:t>Submitted To:</a:t>
            </a:r>
          </a:p>
          <a:p>
            <a:r>
              <a:rPr lang="en-US" sz="2200" dirty="0" smtClean="0">
                <a:latin typeface="Times New Roman" pitchFamily="18" charset="0"/>
                <a:cs typeface="Times New Roman" pitchFamily="18" charset="0"/>
              </a:rPr>
              <a:t>     Name: Gurpreet Singh</a:t>
            </a:r>
          </a:p>
          <a:p>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Designation: Associate Professor</a:t>
            </a:r>
            <a:endParaRPr lang="en-US" sz="22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2988860" y="890151"/>
            <a:ext cx="2555630" cy="548640"/>
          </a:xfrm>
          <a:prstGeom prst="rect">
            <a:avLst/>
          </a:prstGeom>
          <a:noFill/>
          <a:ln w="9360">
            <a:noFill/>
          </a:ln>
        </p:spPr>
        <p:txBody>
          <a:bodyPr anchor="ctr">
            <a:noAutofit/>
          </a:bodyPr>
          <a:lstStyle/>
          <a:p>
            <a:pPr algn="ctr">
              <a:lnSpc>
                <a:spcPct val="100000"/>
              </a:lnSpc>
            </a:pPr>
            <a:r>
              <a:rPr lang="en" sz="30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261236" y="1767840"/>
            <a:ext cx="8173080" cy="2246769"/>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In recent years, artificial intelligence has become capable of generating text, images, videos, and even music. Many websites, blogs, and social media platforms are now filled with AI-generated content. This has led to the idea known as the Dead Theory of Content, which suggests that human-created content is gradually being replaced by AI-generated content. This shift may have significant psychological and economic impacts, which this research aims to explore.</a:t>
            </a:r>
          </a:p>
        </p:txBody>
      </p:sp>
      <p:sp>
        <p:nvSpPr>
          <p:cNvPr id="4" name="TextBox 3"/>
          <p:cNvSpPr txBox="1"/>
          <p:nvPr/>
        </p:nvSpPr>
        <p:spPr>
          <a:xfrm>
            <a:off x="2586968" y="4211233"/>
            <a:ext cx="5847348" cy="553998"/>
          </a:xfrm>
          <a:prstGeom prst="rect">
            <a:avLst/>
          </a:prstGeom>
          <a:noFill/>
        </p:spPr>
        <p:txBody>
          <a:bodyPr wrap="square" rtlCol="0">
            <a:spAutoFit/>
          </a:bodyPr>
          <a:lstStyle/>
          <a:p>
            <a:r>
              <a:rPr lang="en-US" sz="3000" dirty="0" smtClean="0">
                <a:latin typeface="Times New Roman" panose="02020603050405020304" pitchFamily="18" charset="0"/>
                <a:cs typeface="Times New Roman" panose="02020603050405020304" pitchFamily="18" charset="0"/>
              </a:rPr>
              <a:t>Objectives of the Study</a:t>
            </a:r>
            <a:endParaRPr lang="en-US" sz="3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61236" y="4961855"/>
            <a:ext cx="8241631"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To understand the Dead Theory of Content</a:t>
            </a:r>
          </a:p>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To analyze psychological impact on internet users</a:t>
            </a:r>
          </a:p>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To examine economic impact on digital industries</a:t>
            </a:r>
          </a:p>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To study the future of human content creation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70495" y="977809"/>
            <a:ext cx="4162568"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Dead Theory of Content</a:t>
            </a:r>
            <a:endParaRPr lang="en-US" sz="3000" dirty="0">
              <a:latin typeface="Times New Roman" pitchFamily="18" charset="0"/>
              <a:cs typeface="Times New Roman" pitchFamily="18" charset="0"/>
            </a:endParaRPr>
          </a:p>
        </p:txBody>
      </p:sp>
      <p:sp>
        <p:nvSpPr>
          <p:cNvPr id="5" name="TextBox 4"/>
          <p:cNvSpPr txBox="1"/>
          <p:nvPr/>
        </p:nvSpPr>
        <p:spPr>
          <a:xfrm>
            <a:off x="566382" y="1776029"/>
            <a:ext cx="6107373"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Internet content is increasingly AI- generated</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Human-generated content is decreasing</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Bots generate articles, posts, images, videos</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Questions about authenticity and originality</a:t>
            </a:r>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55950" y="803562"/>
            <a:ext cx="3973485"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Psychological Impact</a:t>
            </a:r>
            <a:endParaRPr lang="en-US" sz="3000" dirty="0">
              <a:latin typeface="Times New Roman" pitchFamily="18" charset="0"/>
              <a:cs typeface="Times New Roman" pitchFamily="18" charset="0"/>
            </a:endParaRPr>
          </a:p>
        </p:txBody>
      </p:sp>
      <p:sp>
        <p:nvSpPr>
          <p:cNvPr id="6" name="TextBox 5"/>
          <p:cNvSpPr txBox="1"/>
          <p:nvPr/>
        </p:nvSpPr>
        <p:spPr>
          <a:xfrm>
            <a:off x="199293" y="1609578"/>
            <a:ext cx="8686800" cy="1631216"/>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Reduced trust in online information</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Information overload</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Difficulty distinguishing real vs AI content</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Reduced human creativity</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Digital fatigue</a:t>
            </a:r>
          </a:p>
        </p:txBody>
      </p:sp>
      <p:sp>
        <p:nvSpPr>
          <p:cNvPr id="4" name="TextBox 3"/>
          <p:cNvSpPr txBox="1"/>
          <p:nvPr/>
        </p:nvSpPr>
        <p:spPr>
          <a:xfrm>
            <a:off x="2555950" y="3369701"/>
            <a:ext cx="3973485"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Economic Impact</a:t>
            </a:r>
            <a:endParaRPr lang="en-US" sz="3000" dirty="0">
              <a:latin typeface="Times New Roman" pitchFamily="18" charset="0"/>
              <a:cs typeface="Times New Roman" pitchFamily="18" charset="0"/>
            </a:endParaRPr>
          </a:p>
        </p:txBody>
      </p:sp>
      <p:sp>
        <p:nvSpPr>
          <p:cNvPr id="7" name="TextBox 6"/>
          <p:cNvSpPr txBox="1"/>
          <p:nvPr/>
        </p:nvSpPr>
        <p:spPr>
          <a:xfrm>
            <a:off x="199293" y="4106167"/>
            <a:ext cx="8686800"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Automation in content creation industries</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Reduced cost of content production</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Job transformation in writing, media, marketing</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Growth of AI content tools market</a:t>
            </a:r>
          </a:p>
        </p:txBody>
      </p:sp>
    </p:spTree>
    <p:extLst>
      <p:ext uri="{BB962C8B-B14F-4D97-AF65-F5344CB8AC3E}">
        <p14:creationId xmlns:p14="http://schemas.microsoft.com/office/powerpoint/2010/main" val="688233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63835" y="905661"/>
            <a:ext cx="4892058"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Challenges and Ethical Issues</a:t>
            </a:r>
            <a:endParaRPr lang="en-US" sz="3000" dirty="0">
              <a:latin typeface="Times New Roman" pitchFamily="18" charset="0"/>
              <a:cs typeface="Times New Roman" pitchFamily="18" charset="0"/>
            </a:endParaRPr>
          </a:p>
        </p:txBody>
      </p:sp>
      <p:sp>
        <p:nvSpPr>
          <p:cNvPr id="5" name="TextBox 4"/>
          <p:cNvSpPr txBox="1"/>
          <p:nvPr/>
        </p:nvSpPr>
        <p:spPr>
          <a:xfrm>
            <a:off x="247358" y="1958060"/>
            <a:ext cx="5170803"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Misinformation and fake content</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Copyright and ownership issues</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Loss of human originality</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Manipulation of public opinion</a:t>
            </a:r>
          </a:p>
        </p:txBody>
      </p:sp>
      <p:sp>
        <p:nvSpPr>
          <p:cNvPr id="6" name="TextBox 5"/>
          <p:cNvSpPr txBox="1"/>
          <p:nvPr/>
        </p:nvSpPr>
        <p:spPr>
          <a:xfrm>
            <a:off x="2345561" y="3626012"/>
            <a:ext cx="4710332"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Future of Content Creation</a:t>
            </a:r>
            <a:endParaRPr lang="en-US" sz="3000" dirty="0">
              <a:latin typeface="Times New Roman" pitchFamily="18" charset="0"/>
              <a:cs typeface="Times New Roman" pitchFamily="18" charset="0"/>
            </a:endParaRPr>
          </a:p>
        </p:txBody>
      </p:sp>
      <p:sp>
        <p:nvSpPr>
          <p:cNvPr id="7" name="TextBox 6"/>
          <p:cNvSpPr txBox="1"/>
          <p:nvPr/>
        </p:nvSpPr>
        <p:spPr>
          <a:xfrm>
            <a:off x="247358" y="4401412"/>
            <a:ext cx="6261294"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Human AI collaboration</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Regulation of AI- generated content</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Need for content authenticity</a:t>
            </a:r>
          </a:p>
          <a:p>
            <a:pPr marL="342900" indent="-342900" algn="just">
              <a:buFont typeface="Arial" panose="020B0604020202020204" pitchFamily="34" charset="0"/>
              <a:buChar char="•"/>
            </a:pPr>
            <a:r>
              <a:rPr lang="en-US" sz="2000" dirty="0" smtClean="0">
                <a:latin typeface="Times New Roman" pitchFamily="18" charset="0"/>
                <a:cs typeface="Times New Roman" pitchFamily="18" charset="0"/>
              </a:rPr>
              <a:t>Importance of human creativity</a:t>
            </a:r>
          </a:p>
        </p:txBody>
      </p:sp>
    </p:spTree>
    <p:extLst>
      <p:ext uri="{BB962C8B-B14F-4D97-AF65-F5344CB8AC3E}">
        <p14:creationId xmlns:p14="http://schemas.microsoft.com/office/powerpoint/2010/main" val="2834479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2382" y="928048"/>
            <a:ext cx="3766782" cy="584775"/>
          </a:xfrm>
          <a:prstGeom prst="rect">
            <a:avLst/>
          </a:prstGeom>
          <a:noFill/>
        </p:spPr>
        <p:txBody>
          <a:bodyPr wrap="square" rtlCol="0">
            <a:spAutoFit/>
          </a:bodyPr>
          <a:lstStyle/>
          <a:p>
            <a:r>
              <a:rPr lang="en-US" sz="3200" dirty="0" smtClean="0">
                <a:latin typeface="Times New Roman" panose="02020603050405020304" pitchFamily="18" charset="0"/>
                <a:cs typeface="Times New Roman" panose="02020603050405020304" pitchFamily="18" charset="0"/>
              </a:rPr>
              <a:t>Proposed Solution</a:t>
            </a:r>
            <a:endParaRPr lang="en-US" sz="3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18365" y="1512823"/>
            <a:ext cx="8611737" cy="3785652"/>
          </a:xfrm>
          <a:prstGeom prst="rect">
            <a:avLst/>
          </a:prstGeom>
          <a:noFill/>
        </p:spPr>
        <p:txBody>
          <a:bodyPr wrap="square" rtlCol="0">
            <a:spAutoFit/>
          </a:bodyPr>
          <a:lstStyle/>
          <a:p>
            <a:pPr algn="just"/>
            <a:r>
              <a:rPr lang="en-US" sz="2000" dirty="0" smtClean="0">
                <a:latin typeface="Times New Roman" panose="02020603050405020304" pitchFamily="18" charset="0"/>
                <a:cs typeface="Times New Roman" panose="02020603050405020304" pitchFamily="18" charset="0"/>
              </a:rPr>
              <a:t>Our team developed an AI- based Content Detection System to address the Dead Theory of Content and ensure originality and authenticity. It used DistilGPT2 and perplexity to classify text as AI- generated or human-written along with probability scores and summaries.</a:t>
            </a:r>
          </a:p>
          <a:p>
            <a:pPr algn="just"/>
            <a:r>
              <a:rPr lang="en-US" sz="2000" dirty="0" smtClean="0">
                <a:latin typeface="Times New Roman" panose="02020603050405020304" pitchFamily="18" charset="0"/>
                <a:cs typeface="Times New Roman" panose="02020603050405020304" pitchFamily="18" charset="0"/>
              </a:rPr>
              <a:t>The system follows a hybrid approach combining deep learning and statistical methods for improved accuracy. </a:t>
            </a:r>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Current limitations include limited data, simple modelling, and binary classification.</a:t>
            </a:r>
          </a:p>
          <a:p>
            <a:pPr algn="just"/>
            <a:r>
              <a:rPr lang="en-US" sz="2000" dirty="0" smtClean="0">
                <a:latin typeface="Times New Roman" panose="02020603050405020304" pitchFamily="18" charset="0"/>
                <a:cs typeface="Times New Roman" panose="02020603050405020304" pitchFamily="18" charset="0"/>
              </a:rPr>
              <a:t>Future improvements include real-world datasets, advanced ML models, and multi-class classification.</a:t>
            </a:r>
          </a:p>
          <a:p>
            <a:pPr algn="just"/>
            <a:r>
              <a:rPr lang="en-US" sz="2000" dirty="0" smtClean="0">
                <a:latin typeface="Times New Roman" panose="02020603050405020304" pitchFamily="18" charset="0"/>
                <a:cs typeface="Times New Roman" panose="02020603050405020304" pitchFamily="18" charset="0"/>
              </a:rPr>
              <a:t>A hybrid framework with human review and ethical practices is recommended for reliable deployment.</a:t>
            </a:r>
          </a:p>
        </p:txBody>
      </p:sp>
    </p:spTree>
    <p:extLst>
      <p:ext uri="{BB962C8B-B14F-4D97-AF65-F5344CB8AC3E}">
        <p14:creationId xmlns:p14="http://schemas.microsoft.com/office/powerpoint/2010/main" val="3026862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17863" y="959893"/>
            <a:ext cx="2510444" cy="553998"/>
          </a:xfrm>
          <a:prstGeom prst="rect">
            <a:avLst/>
          </a:prstGeom>
          <a:noFill/>
        </p:spPr>
        <p:txBody>
          <a:bodyPr wrap="square" rtlCol="0">
            <a:spAutoFit/>
          </a:bodyPr>
          <a:lstStyle/>
          <a:p>
            <a:r>
              <a:rPr lang="en-US" sz="3000" dirty="0" smtClean="0">
                <a:latin typeface="Times New Roman" pitchFamily="18" charset="0"/>
                <a:cs typeface="Times New Roman" pitchFamily="18" charset="0"/>
              </a:rPr>
              <a:t>Conclusion</a:t>
            </a:r>
            <a:endParaRPr lang="en-US" sz="3000" dirty="0">
              <a:latin typeface="Times New Roman" pitchFamily="18" charset="0"/>
              <a:cs typeface="Times New Roman" pitchFamily="18" charset="0"/>
            </a:endParaRPr>
          </a:p>
        </p:txBody>
      </p:sp>
      <p:sp>
        <p:nvSpPr>
          <p:cNvPr id="3" name="TextBox 2"/>
          <p:cNvSpPr txBox="1"/>
          <p:nvPr/>
        </p:nvSpPr>
        <p:spPr>
          <a:xfrm>
            <a:off x="229685" y="1799544"/>
            <a:ext cx="8686800" cy="163121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In conclusion, AI-generated content is growing rapidly and changing the structure of the internet. It has both psychological and economic impacts on individuals and industries. While AI improves efficiency and reduces costs, it also raises concerns about authenticity, creativity, and employment. Therefore, a balance between AI-generated and human-created content is necessary for a healthy digital ecosystem.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37957" y="2210971"/>
            <a:ext cx="6752492" cy="1569660"/>
          </a:xfrm>
          <a:prstGeom prst="rect">
            <a:avLst/>
          </a:prstGeom>
          <a:noFill/>
        </p:spPr>
        <p:txBody>
          <a:bodyPr wrap="square" rtlCol="0">
            <a:spAutoFit/>
          </a:bodyPr>
          <a:lstStyle/>
          <a:p>
            <a:r>
              <a:rPr lang="en-US" sz="9600" dirty="0" smtClean="0">
                <a:latin typeface="Algerian" pitchFamily="82" charset="0"/>
              </a:rPr>
              <a:t>THANK YOU</a:t>
            </a:r>
            <a:endParaRPr lang="en-US" sz="9600" dirty="0">
              <a:latin typeface="Algerian" pitchFamily="8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37042</TotalTime>
  <Words>470</Words>
  <Application>Microsoft Office PowerPoint</Application>
  <PresentationFormat>On-screen Show (4:3)</PresentationFormat>
  <Paragraphs>59</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MS PGothic</vt:lpstr>
      <vt:lpstr>Algerian</vt:lpstr>
      <vt:lpstr>Arial</vt:lpstr>
      <vt:lpstr>Calibri</vt:lpstr>
      <vt:lpstr>DejaVu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Microsoft account</cp:lastModifiedBy>
  <cp:revision>2344</cp:revision>
  <dcterms:created xsi:type="dcterms:W3CDTF">2010-04-09T07:36:15Z</dcterms:created>
  <dcterms:modified xsi:type="dcterms:W3CDTF">2026-05-18T06:56:28Z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